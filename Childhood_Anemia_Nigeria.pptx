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5" r:id="rId9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cap="all" spc="5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SEVERITY OF CHILDHOOD ANEAMIA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NG"/>
        </a:p>
      </c:txPr>
    </c:title>
    <c:autoTitleDeleted val="0"/>
    <c:plotArea>
      <c:layout>
        <c:manualLayout>
          <c:layoutTarget val="inner"/>
          <c:xMode val="edge"/>
          <c:yMode val="edge"/>
          <c:x val="7.2782603346456698E-2"/>
          <c:y val="0.10659964895425388"/>
          <c:w val="0.9272173966535433"/>
          <c:h val="0.83049004487635059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3">
                <a:alpha val="70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2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6.6369211148406659E-2"/>
                      <c:h val="3.858993364973340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3DDF-43C7-AFCE-0BB8C0B5F0C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NG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Not Anemic</c:v>
                </c:pt>
                <c:pt idx="1">
                  <c:v>MILD</c:v>
                </c:pt>
                <c:pt idx="2">
                  <c:v>MODERATE</c:v>
                </c:pt>
                <c:pt idx="3">
                  <c:v>SEVERE</c:v>
                </c:pt>
              </c:strCache>
            </c:strRef>
          </c:cat>
          <c:val>
            <c:numRef>
              <c:f>Sheet1!$B$2:$B$5</c:f>
              <c:numCache>
                <c:formatCode>0.00%</c:formatCode>
                <c:ptCount val="4"/>
                <c:pt idx="0">
                  <c:v>0.312</c:v>
                </c:pt>
                <c:pt idx="1">
                  <c:v>0.27</c:v>
                </c:pt>
                <c:pt idx="2">
                  <c:v>0.38600000000000001</c:v>
                </c:pt>
                <c:pt idx="3">
                  <c:v>3.2000000000000001E-2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DDF-43C7-AFCE-0BB8C0B5F0CA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1553976255"/>
        <c:axId val="1553977503"/>
      </c:barChart>
      <c:catAx>
        <c:axId val="15539762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  <a:headEnd type="none" w="sm" len="sm"/>
            <a:tailEnd type="none" w="sm" len="sm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G"/>
          </a:p>
        </c:txPr>
        <c:crossAx val="1553977503"/>
        <c:crosses val="autoZero"/>
        <c:auto val="1"/>
        <c:lblAlgn val="ctr"/>
        <c:lblOffset val="100"/>
        <c:noMultiLvlLbl val="0"/>
      </c:catAx>
      <c:valAx>
        <c:axId val="1553977503"/>
        <c:scaling>
          <c:orientation val="minMax"/>
        </c:scaling>
        <c:delete val="0"/>
        <c:axPos val="l"/>
        <c:majorGridlines>
          <c:spPr>
            <a:ln w="9525" cap="flat" cmpd="sng" algn="ctr">
              <a:gradFill>
                <a:gsLst>
                  <a:gs pos="0">
                    <a:schemeClr val="tx1">
                      <a:lumMod val="5000"/>
                      <a:lumOff val="95000"/>
                    </a:schemeClr>
                  </a:gs>
                  <a:gs pos="100000">
                    <a:schemeClr val="tx1">
                      <a:lumMod val="15000"/>
                      <a:lumOff val="8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solidFill>
            <a:schemeClr val="bg1"/>
          </a:solidFill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G"/>
          </a:p>
        </c:txPr>
        <c:crossAx val="155397625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NG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style1.xml><?xml version="1.0" encoding="utf-8"?>
<cs:chartStyle xmlns:cs="http://schemas.microsoft.com/office/drawing/2012/chartStyle" xmlns:a="http://schemas.openxmlformats.org/drawingml/2006/main" id="30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  <a:headEnd type="none" w="sm" len="sm"/>
        <a:tailEnd type="none" w="sm" len="sm"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>
          <a:alpha val="70000"/>
        </a:schemeClr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>
          <a:alpha val="70000"/>
        </a:schemeClr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46000">
            <a:schemeClr val="phClr"/>
          </a:gs>
          <a:gs pos="100000">
            <a:schemeClr val="phClr">
              <a:lumMod val="20000"/>
              <a:lumOff val="80000"/>
              <a:alpha val="0"/>
            </a:schemeClr>
          </a:gs>
        </a:gsLst>
        <a:path path="circle">
          <a:fillToRect l="50000" t="-80000" r="50000" b="180000"/>
        </a:path>
      </a:gradFill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0">
              <a:schemeClr val="tx1">
                <a:lumMod val="5000"/>
                <a:lumOff val="95000"/>
              </a:schemeClr>
            </a:gs>
            <a:gs pos="100000">
              <a:schemeClr val="tx1">
                <a:lumMod val="15000"/>
                <a:lumOff val="8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0">
              <a:schemeClr val="tx1">
                <a:lumMod val="5000"/>
                <a:lumOff val="95000"/>
              </a:schemeClr>
            </a:gs>
            <a:gs pos="100000">
              <a:schemeClr val="tx1">
                <a:lumMod val="15000"/>
                <a:lumOff val="8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  <a:headEnd type="none" w="sm" len="sm"/>
        <a:tailEnd type="none" w="sm" len="sm"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200" b="1" kern="1200" cap="all" spc="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95953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915916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077977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934467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9/23/2026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193032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2117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139800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928703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731682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123255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17434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318022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0875743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4862536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0798706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448255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8617766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1516678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6996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8741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1051560" y="11704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2000" b="1" kern="0" spc="200" dirty="0">
                <a:latin typeface="Algerian" panose="04020705040A02060702" pitchFamily="82" charset="0"/>
                <a:ea typeface="Calibri" pitchFamily="34" charset="-122"/>
                <a:cs typeface="Calibri" pitchFamily="34" charset="-120"/>
              </a:rPr>
              <a:t>2018 NDHS CASE STUDY</a:t>
            </a:r>
            <a:endParaRPr lang="en-US" sz="2000" b="1" dirty="0">
              <a:latin typeface="Algerian" panose="04020705040A02060702" pitchFamily="82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822960" y="15544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latin typeface="Algerian" panose="04020705040A02060702" pitchFamily="82" charset="0"/>
                <a:ea typeface="Cambria" pitchFamily="34" charset="-122"/>
                <a:cs typeface="Cambria" pitchFamily="34" charset="-120"/>
              </a:rPr>
              <a:t>Childhood Anemia in Nigeria</a:t>
            </a:r>
            <a:endParaRPr lang="en-US" sz="4400" b="1" dirty="0">
              <a:latin typeface="Algerian" panose="04020705040A02060702" pitchFamily="82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051560" y="235000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i="1" dirty="0"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Socioeconomic Factors and Anemia Severity among Children Aged 0–59 Months</a:t>
            </a:r>
            <a:endParaRPr lang="en-US" sz="1900" b="1" dirty="0">
              <a:latin typeface="Century Gothic" panose="020B0502020202020204" pitchFamily="34" charset="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822960" y="35661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b="1" kern="0" spc="100" dirty="0">
                <a:latin typeface="Arial Rounded MT Bold" panose="020F0704030504030204" pitchFamily="34" charset="0"/>
                <a:ea typeface="Calibri" pitchFamily="34" charset="-122"/>
                <a:cs typeface="Calibri" pitchFamily="34" charset="-120"/>
              </a:rPr>
              <a:t>DATA :</a:t>
            </a:r>
            <a:endParaRPr lang="en-US" b="1" dirty="0">
              <a:latin typeface="Arial Rounded MT Bold" panose="020F0704030504030204" pitchFamily="34" charset="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2394066" y="3580361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2000" b="1" dirty="0"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2018 Nigeria Demographic and Health Survey (NDHS)</a:t>
            </a:r>
            <a:endParaRPr lang="en-US" sz="2000" b="1" dirty="0">
              <a:latin typeface="Century Gothic" panose="020B0502020202020204" pitchFamily="34" charset="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822960" y="39776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b="1" kern="0" spc="100" dirty="0">
                <a:latin typeface="Arial Rounded MT Bold" panose="020F0704030504030204" pitchFamily="34" charset="0"/>
                <a:ea typeface="Calibri" pitchFamily="34" charset="-122"/>
                <a:cs typeface="Calibri" pitchFamily="34" charset="-120"/>
              </a:rPr>
              <a:t>TOOL :</a:t>
            </a:r>
            <a:endParaRPr lang="en-US" b="1" dirty="0">
              <a:latin typeface="Arial Rounded MT Bold" panose="020F0704030504030204" pitchFamily="34" charset="0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2394066" y="40005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2000" b="1" dirty="0"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Google Sheets</a:t>
            </a:r>
            <a:endParaRPr lang="en-US" sz="2000" b="1" dirty="0">
              <a:latin typeface="Century Gothic" panose="020B0502020202020204" pitchFamily="34" charset="0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822959" y="4389120"/>
            <a:ext cx="178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b="1" kern="0" spc="100" dirty="0">
                <a:latin typeface="Arial Rounded MT Bold" panose="020F0704030504030204" pitchFamily="34" charset="0"/>
                <a:ea typeface="Calibri" pitchFamily="34" charset="-122"/>
                <a:cs typeface="Calibri" pitchFamily="34" charset="-120"/>
              </a:rPr>
              <a:t>ANALYSIS :</a:t>
            </a:r>
            <a:endParaRPr lang="en-US" b="1" dirty="0">
              <a:latin typeface="Arial Rounded MT Bold" panose="020F0704030504030204" pitchFamily="34" charset="0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2394066" y="4404776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2000" b="1" dirty="0"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Descriptive cross-tabulation and Visualization</a:t>
            </a:r>
            <a:endParaRPr lang="en-US" sz="2000" b="1" dirty="0">
              <a:latin typeface="Century Gothic" panose="020B0502020202020204" pitchFamily="34" charset="0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3136669" y="5303520"/>
            <a:ext cx="6339839" cy="303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latin typeface="Century Gothic" panose="020B0502020202020204" pitchFamily="34" charset="0"/>
              </a:rPr>
              <a:t>AISHATU ABUBAKAR</a:t>
            </a:r>
          </a:p>
        </p:txBody>
      </p:sp>
      <p:sp>
        <p:nvSpPr>
          <p:cNvPr id="13" name="Text 11"/>
          <p:cNvSpPr txBox="1"/>
          <p:nvPr/>
        </p:nvSpPr>
        <p:spPr>
          <a:xfrm>
            <a:off x="1051561" y="5846618"/>
            <a:ext cx="10392294" cy="119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Capstone Data Analysis Project</a:t>
            </a:r>
            <a:endParaRPr lang="en-US" sz="2400" b="1" dirty="0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A74FF56-033C-39BC-AF39-1FB8B11B4ED7}"/>
              </a:ext>
            </a:extLst>
          </p:cNvPr>
          <p:cNvSpPr txBox="1"/>
          <p:nvPr/>
        </p:nvSpPr>
        <p:spPr>
          <a:xfrm>
            <a:off x="3044536" y="805934"/>
            <a:ext cx="61167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RESEARCH QUESTION</a:t>
            </a:r>
            <a:endParaRPr lang="en-NG" sz="3600" b="1" dirty="0">
              <a:latin typeface="Arial Black" panose="020B0A04020102020204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1227F599-1821-4844-5EF8-C879C89B6E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745" y="1564424"/>
            <a:ext cx="11000509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G" altLang="en-NG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Which socioeconomic factors</a:t>
            </a:r>
            <a:r>
              <a:rPr kumimoji="0" lang="en-US" altLang="en-NG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NG" altLang="en-NG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household wealth and mother's education</a:t>
            </a:r>
            <a:r>
              <a:rPr kumimoji="0" lang="en-US" altLang="en-NG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NG" altLang="en-NG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show the strongest differences in childhood anaemia severity, and do these patterns differ between urban and rural areas?</a:t>
            </a:r>
            <a:endParaRPr kumimoji="0" lang="en-NG" altLang="en-NG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NG" altLang="en-NG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AA6FE68-3CF6-AA62-4D69-02014A4394A2}"/>
              </a:ext>
            </a:extLst>
          </p:cNvPr>
          <p:cNvSpPr/>
          <p:nvPr/>
        </p:nvSpPr>
        <p:spPr>
          <a:xfrm>
            <a:off x="872835" y="2857779"/>
            <a:ext cx="10446328" cy="170303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Arial Black" panose="020B0A04020102020204" pitchFamily="34" charset="0"/>
              </a:rPr>
              <a:t>Childhood anemia can affect children's health and development. Understanding how anemia severity varies across socioeconomic and residential groups can help identify populations that may require greater attention.</a:t>
            </a:r>
            <a:endParaRPr lang="en-NG" dirty="0">
              <a:latin typeface="Arial Black" panose="020B0A040201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952AC9-D167-5C97-FD46-D676606A7960}"/>
              </a:ext>
            </a:extLst>
          </p:cNvPr>
          <p:cNvSpPr txBox="1"/>
          <p:nvPr/>
        </p:nvSpPr>
        <p:spPr>
          <a:xfrm>
            <a:off x="595746" y="5002649"/>
            <a:ext cx="68579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1" dirty="0">
                <a:latin typeface="Arial Black" panose="020B0A04020102020204" pitchFamily="34" charset="0"/>
              </a:rPr>
              <a:t>Study population:</a:t>
            </a:r>
            <a:r>
              <a:rPr lang="en-US" sz="2000" dirty="0">
                <a:latin typeface="Arial Black" panose="020B0A04020102020204" pitchFamily="34" charset="0"/>
              </a:rPr>
              <a:t> Children aged 0–59 months</a:t>
            </a:r>
            <a:br>
              <a:rPr lang="en-US" sz="2000" dirty="0">
                <a:latin typeface="Arial Black" panose="020B0A04020102020204" pitchFamily="34" charset="0"/>
              </a:rPr>
            </a:br>
            <a:endParaRPr lang="en-NG" sz="20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8816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A74FF56-033C-39BC-AF39-1FB8B11B4ED7}"/>
              </a:ext>
            </a:extLst>
          </p:cNvPr>
          <p:cNvSpPr txBox="1"/>
          <p:nvPr/>
        </p:nvSpPr>
        <p:spPr>
          <a:xfrm>
            <a:off x="3044536" y="805934"/>
            <a:ext cx="61167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DATA AND CLEANING</a:t>
            </a:r>
            <a:endParaRPr lang="en-NG" sz="3600" b="1" dirty="0">
              <a:latin typeface="Arial Black" panose="020B0A04020102020204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1227F599-1821-4844-5EF8-C879C89B6E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4345" y="1061074"/>
            <a:ext cx="10522528" cy="49901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latin typeface="Arial Black" panose="020B0A04020102020204" pitchFamily="34" charset="0"/>
              </a:rPr>
              <a:t>DATA</a:t>
            </a:r>
            <a:endParaRPr lang="en-US" dirty="0">
              <a:latin typeface="Arial Black" panose="020B0A04020102020204" pitchFamily="34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Century Gothic" panose="020B0502020202020204" pitchFamily="34" charset="0"/>
              </a:rPr>
              <a:t>2018 Nigeria Demographic and Health Survey (NDHS) </a:t>
            </a:r>
          </a:p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Century Gothic" panose="020B0502020202020204" pitchFamily="34" charset="0"/>
              </a:rPr>
              <a:t>Children aged 0–59 months </a:t>
            </a:r>
          </a:p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Century Gothic" panose="020B0502020202020204" pitchFamily="34" charset="0"/>
              </a:rPr>
              <a:t>33,924 records in the dataset 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latin typeface="Arial Black" panose="020B0A04020102020204" pitchFamily="34" charset="0"/>
              </a:rPr>
              <a:t>OUTCOME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Century Gothic" panose="020B0502020202020204" pitchFamily="34" charset="0"/>
              </a:rPr>
              <a:t>Child anemia severity </a:t>
            </a:r>
          </a:p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Century Gothic" panose="020B0502020202020204" pitchFamily="34" charset="0"/>
              </a:rPr>
              <a:t>Not anemic </a:t>
            </a:r>
          </a:p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Century Gothic" panose="020B0502020202020204" pitchFamily="34" charset="0"/>
              </a:rPr>
              <a:t>Mild </a:t>
            </a:r>
          </a:p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Century Gothic" panose="020B0502020202020204" pitchFamily="34" charset="0"/>
              </a:rPr>
              <a:t>Moderate </a:t>
            </a:r>
          </a:p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Century Gothic" panose="020B0502020202020204" pitchFamily="34" charset="0"/>
              </a:rPr>
              <a:t>Severe </a:t>
            </a:r>
          </a:p>
        </p:txBody>
      </p:sp>
    </p:spTree>
    <p:extLst>
      <p:ext uri="{BB962C8B-B14F-4D97-AF65-F5344CB8AC3E}">
        <p14:creationId xmlns:p14="http://schemas.microsoft.com/office/powerpoint/2010/main" val="19945451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A74FF56-033C-39BC-AF39-1FB8B11B4ED7}"/>
              </a:ext>
            </a:extLst>
          </p:cNvPr>
          <p:cNvSpPr txBox="1"/>
          <p:nvPr/>
        </p:nvSpPr>
        <p:spPr>
          <a:xfrm>
            <a:off x="2864427" y="611970"/>
            <a:ext cx="61167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DATA AND CLEANING</a:t>
            </a:r>
            <a:endParaRPr lang="en-NG" sz="3600" b="1" dirty="0">
              <a:latin typeface="Arial Black" panose="020B0A04020102020204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1227F599-1821-4844-5EF8-C879C89B6E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7419" y="993228"/>
            <a:ext cx="10806546" cy="50247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latin typeface="Arial Black" panose="020B0A04020102020204" pitchFamily="34" charset="0"/>
                <a:cs typeface="Arial" panose="020B0604020202020204" pitchFamily="34" charset="0"/>
              </a:rPr>
              <a:t>KEY FACTORS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Century Gothic" panose="020B0502020202020204" pitchFamily="34" charset="0"/>
              </a:rPr>
              <a:t>Household wealth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Century Gothic" panose="020B0502020202020204" pitchFamily="34" charset="0"/>
              </a:rPr>
              <a:t>Mother's education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Century Gothic" panose="020B0502020202020204" pitchFamily="34" charset="0"/>
              </a:rPr>
              <a:t>Residence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latin typeface="Arial Black" panose="020B0A04020102020204" pitchFamily="34" charset="0"/>
              </a:rPr>
              <a:t>CLEANING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Century Gothic" panose="020B0502020202020204" pitchFamily="34" charset="0"/>
              </a:rPr>
              <a:t>Standardized education categories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Century Gothic" panose="020B0502020202020204" pitchFamily="34" charset="0"/>
              </a:rPr>
              <a:t>Preserved missing anemia measurements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Century Gothic" panose="020B0502020202020204" pitchFamily="34" charset="0"/>
              </a:rPr>
              <a:t>Retained original hemoglobin values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Century Gothic" panose="020B0502020202020204" pitchFamily="34" charset="0"/>
              </a:rPr>
              <a:t>Checked unusual hemoglobin values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Century Gothic" panose="020B0502020202020204" pitchFamily="34" charset="0"/>
              </a:rPr>
              <a:t>Used Google Sheets pivot tables for cross-tabulation 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latin typeface="Century Gothic" panose="020B0502020202020204" pitchFamily="34" charset="0"/>
              </a:rPr>
              <a:t>10,182 children had recorded child anemia measurements and were included in the anemia </a:t>
            </a:r>
            <a:r>
              <a:rPr lang="en-US" b="1">
                <a:latin typeface="Century Gothic" panose="020B0502020202020204" pitchFamily="34" charset="0"/>
              </a:rPr>
              <a:t>severity comparisons.</a:t>
            </a:r>
            <a:endParaRPr lang="en-US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15307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A74FF56-033C-39BC-AF39-1FB8B11B4ED7}"/>
              </a:ext>
            </a:extLst>
          </p:cNvPr>
          <p:cNvSpPr txBox="1"/>
          <p:nvPr/>
        </p:nvSpPr>
        <p:spPr>
          <a:xfrm>
            <a:off x="692727" y="611970"/>
            <a:ext cx="1052945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latin typeface="Arial Black" panose="020B0A04020102020204" pitchFamily="34" charset="0"/>
              </a:rPr>
              <a:t>OVERALL CHILDHOOD ANEMIA SEVERITY</a:t>
            </a:r>
            <a:endParaRPr lang="en-NG" sz="3200" b="1" dirty="0">
              <a:latin typeface="Arial Black" panose="020B0A040201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EB4FCD-6B19-2DEA-8ADB-E856919F2602}"/>
              </a:ext>
            </a:extLst>
          </p:cNvPr>
          <p:cNvSpPr txBox="1"/>
          <p:nvPr/>
        </p:nvSpPr>
        <p:spPr>
          <a:xfrm>
            <a:off x="692727" y="1060616"/>
            <a:ext cx="10681855" cy="869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Century Gothic" panose="020B0502020202020204" pitchFamily="34" charset="0"/>
              </a:rPr>
              <a:t>Moderate anemia was the largest single severity category among children with recorded anemia measurements.</a:t>
            </a:r>
            <a:endParaRPr lang="en-NG" b="1" dirty="0">
              <a:latin typeface="Century Gothic" panose="020B0502020202020204" pitchFamily="34" charset="0"/>
            </a:endParaRP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167D35F6-B705-9CD9-B600-1FA1571908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9379420"/>
              </p:ext>
            </p:extLst>
          </p:nvPr>
        </p:nvGraphicFramePr>
        <p:xfrm>
          <a:off x="854362" y="1930407"/>
          <a:ext cx="4008584" cy="3451835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2004292">
                  <a:extLst>
                    <a:ext uri="{9D8B030D-6E8A-4147-A177-3AD203B41FA5}">
                      <a16:colId xmlns:a16="http://schemas.microsoft.com/office/drawing/2014/main" val="3028326226"/>
                    </a:ext>
                  </a:extLst>
                </a:gridCol>
                <a:gridCol w="2004292">
                  <a:extLst>
                    <a:ext uri="{9D8B030D-6E8A-4147-A177-3AD203B41FA5}">
                      <a16:colId xmlns:a16="http://schemas.microsoft.com/office/drawing/2014/main" val="810785679"/>
                    </a:ext>
                  </a:extLst>
                </a:gridCol>
              </a:tblGrid>
              <a:tr h="690367">
                <a:tc>
                  <a:txBody>
                    <a:bodyPr/>
                    <a:lstStyle/>
                    <a:p>
                      <a:r>
                        <a:rPr lang="en-US" dirty="0"/>
                        <a:t>Severity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Percentage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3061474"/>
                  </a:ext>
                </a:extLst>
              </a:tr>
              <a:tr h="690367">
                <a:tc>
                  <a:txBody>
                    <a:bodyPr/>
                    <a:lstStyle/>
                    <a:p>
                      <a:r>
                        <a:rPr lang="en-US" dirty="0"/>
                        <a:t>Not anemic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NG" b="1"/>
                        <a:t>31.2%</a:t>
                      </a:r>
                      <a:endParaRPr lang="en-NG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8882944"/>
                  </a:ext>
                </a:extLst>
              </a:tr>
              <a:tr h="690367">
                <a:tc>
                  <a:txBody>
                    <a:bodyPr/>
                    <a:lstStyle/>
                    <a:p>
                      <a:pPr algn="just"/>
                      <a:r>
                        <a:rPr lang="en-US" dirty="0"/>
                        <a:t>Mild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NG" b="1" dirty="0"/>
                        <a:t>27.0%</a:t>
                      </a:r>
                      <a:endParaRPr lang="en-NG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8905901"/>
                  </a:ext>
                </a:extLst>
              </a:tr>
              <a:tr h="690367">
                <a:tc>
                  <a:txBody>
                    <a:bodyPr/>
                    <a:lstStyle/>
                    <a:p>
                      <a:r>
                        <a:rPr lang="en-US"/>
                        <a:t>Moderate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NG" b="1"/>
                        <a:t>38.6%</a:t>
                      </a:r>
                      <a:endParaRPr lang="en-NG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1613692"/>
                  </a:ext>
                </a:extLst>
              </a:tr>
              <a:tr h="690367">
                <a:tc>
                  <a:txBody>
                    <a:bodyPr/>
                    <a:lstStyle/>
                    <a:p>
                      <a:r>
                        <a:rPr lang="en-US" dirty="0"/>
                        <a:t>Severe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NG" b="1" dirty="0"/>
                        <a:t>3.2%</a:t>
                      </a:r>
                      <a:endParaRPr lang="en-NG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410575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0D28564-E1BC-D768-223C-B0F6F99D3811}"/>
              </a:ext>
            </a:extLst>
          </p:cNvPr>
          <p:cNvSpPr txBox="1"/>
          <p:nvPr/>
        </p:nvSpPr>
        <p:spPr>
          <a:xfrm>
            <a:off x="692727" y="5612718"/>
            <a:ext cx="100306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latin typeface="Century Gothic" panose="020B0502020202020204" pitchFamily="34" charset="0"/>
              </a:rPr>
              <a:t>Analysis population: 10,182 children with recorded child anemia measurements.</a:t>
            </a:r>
            <a:endParaRPr lang="en-NG" b="1" dirty="0">
              <a:latin typeface="Century Gothic" panose="020B0502020202020204" pitchFamily="34" charset="0"/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7F0CCADB-E90B-E1EF-19CF-4FA074E4E1B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71169941"/>
              </p:ext>
            </p:extLst>
          </p:nvPr>
        </p:nvGraphicFramePr>
        <p:xfrm>
          <a:off x="5666509" y="1645391"/>
          <a:ext cx="5541818" cy="37368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379672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A74FF56-033C-39BC-AF39-1FB8B11B4ED7}"/>
              </a:ext>
            </a:extLst>
          </p:cNvPr>
          <p:cNvSpPr txBox="1"/>
          <p:nvPr/>
        </p:nvSpPr>
        <p:spPr>
          <a:xfrm>
            <a:off x="665018" y="611970"/>
            <a:ext cx="1095894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NG" altLang="en-NG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HOUSEHOLD WEALTH AND CHILDHOOD ANEMIA SEVERITY</a:t>
            </a:r>
            <a:endParaRPr lang="en-NG" sz="2800" b="1" dirty="0">
              <a:latin typeface="Arial Black" panose="020B0A040201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C8D8250-4199-F3B8-537B-A16532FED9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871" y="4666968"/>
            <a:ext cx="10848111" cy="12859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G" altLang="en-NG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Richest:</a:t>
            </a:r>
            <a:r>
              <a:rPr kumimoji="0" lang="en-NG" altLang="en-NG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24.0% moderate/severe</a:t>
            </a:r>
            <a:br>
              <a:rPr kumimoji="0" lang="en-NG" altLang="en-NG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</a:br>
            <a:r>
              <a:rPr kumimoji="0" lang="en-NG" altLang="en-NG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Poorest:</a:t>
            </a:r>
            <a:r>
              <a:rPr kumimoji="0" lang="en-NG" altLang="en-NG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54.0% moderate/severe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G" altLang="en-NG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Not anaemic:</a:t>
            </a:r>
            <a:r>
              <a:rPr kumimoji="0" lang="en-NG" altLang="en-NG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46.5% in the richest households vs. 20.5% in the poorest households.</a:t>
            </a:r>
          </a:p>
        </p:txBody>
      </p:sp>
      <p:pic>
        <p:nvPicPr>
          <p:cNvPr id="1027" name="Picture 3">
            <a:extLst>
              <a:ext uri="{FF2B5EF4-FFF2-40B4-BE49-F238E27FC236}">
                <a16:creationId xmlns:a16="http://schemas.microsoft.com/office/drawing/2014/main" id="{C1C7115D-0530-71F3-E7EA-B178C06785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462" y="1276350"/>
            <a:ext cx="10674927" cy="3390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36273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A74FF56-033C-39BC-AF39-1FB8B11B4ED7}"/>
              </a:ext>
            </a:extLst>
          </p:cNvPr>
          <p:cNvSpPr txBox="1"/>
          <p:nvPr/>
        </p:nvSpPr>
        <p:spPr>
          <a:xfrm>
            <a:off x="616526" y="750516"/>
            <a:ext cx="1095894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latin typeface="Arial Black" panose="020B0A04020102020204" pitchFamily="34" charset="0"/>
              </a:rPr>
              <a:t>MOTHER'S EDUCATION AND PLACE OF RESIDENCE</a:t>
            </a:r>
            <a:endParaRPr lang="en-NG" sz="2800" b="1" dirty="0">
              <a:latin typeface="Arial Black" panose="020B0A040201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C69E362-80B6-4048-BF29-E3BB74CB9FB2}"/>
              </a:ext>
            </a:extLst>
          </p:cNvPr>
          <p:cNvCxnSpPr>
            <a:cxnSpLocks/>
            <a:endCxn id="3" idx="2"/>
          </p:cNvCxnSpPr>
          <p:nvPr/>
        </p:nvCxnSpPr>
        <p:spPr>
          <a:xfrm flipH="1" flipV="1">
            <a:off x="6096000" y="1273736"/>
            <a:ext cx="16543" cy="464215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050" name="Picture 2">
            <a:extLst>
              <a:ext uri="{FF2B5EF4-FFF2-40B4-BE49-F238E27FC236}">
                <a16:creationId xmlns:a16="http://schemas.microsoft.com/office/drawing/2014/main" id="{5EA132D6-13FA-A2AE-388B-524DAB89A6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171" y="1273736"/>
            <a:ext cx="5108865" cy="3725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77EB5C73-E167-0C73-2004-08C0327E3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526" y="4999731"/>
            <a:ext cx="455121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G" altLang="en-NG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Moderate/Severe An</a:t>
            </a:r>
            <a:r>
              <a:rPr kumimoji="0" lang="en-US" altLang="en-NG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aem</a:t>
            </a:r>
            <a:r>
              <a:rPr kumimoji="0" lang="en-NG" altLang="en-NG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ia</a:t>
            </a:r>
            <a:br>
              <a:rPr kumimoji="0" lang="en-NG" altLang="en-NG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NG" altLang="en-NG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Higher education: </a:t>
            </a:r>
            <a:r>
              <a:rPr kumimoji="0" lang="en-NG" altLang="en-NG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20.2%</a:t>
            </a:r>
            <a:br>
              <a:rPr kumimoji="0" lang="en-NG" altLang="en-NG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NG" altLang="en-NG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education: </a:t>
            </a:r>
            <a:r>
              <a:rPr kumimoji="0" lang="en-NG" altLang="en-NG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50.3%</a:t>
            </a:r>
            <a:endParaRPr kumimoji="0" lang="en-NG" altLang="en-NG" sz="1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NG" altLang="en-NG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3" name="Picture 5">
            <a:extLst>
              <a:ext uri="{FF2B5EF4-FFF2-40B4-BE49-F238E27FC236}">
                <a16:creationId xmlns:a16="http://schemas.microsoft.com/office/drawing/2014/main" id="{7AC0B271-7448-E706-F00A-5D99D06C3B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9255" y="1954943"/>
            <a:ext cx="2300162" cy="2036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6">
            <a:extLst>
              <a:ext uri="{FF2B5EF4-FFF2-40B4-BE49-F238E27FC236}">
                <a16:creationId xmlns:a16="http://schemas.microsoft.com/office/drawing/2014/main" id="{A96D5C12-BCAE-A067-92FB-67B261A7D9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96891" y="4999731"/>
            <a:ext cx="4116351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G" altLang="en-NG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Moderate/Severe Anaemia</a:t>
            </a:r>
            <a:br>
              <a:rPr kumimoji="0" lang="en-NG" altLang="en-NG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NG" altLang="en-NG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Urban: </a:t>
            </a:r>
            <a:r>
              <a:rPr kumimoji="0" lang="en-NG" altLang="en-NG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34.7%</a:t>
            </a:r>
            <a:br>
              <a:rPr kumimoji="0" lang="en-NG" altLang="en-NG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NG" altLang="en-NG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Rural: </a:t>
            </a:r>
            <a:r>
              <a:rPr kumimoji="0" lang="en-NG" altLang="en-NG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46.2%</a:t>
            </a:r>
            <a:endParaRPr kumimoji="0" lang="en-NG" altLang="en-NG" sz="13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NG" altLang="en-NG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CF2B58-CAE2-069E-1575-BBE770F87C27}"/>
              </a:ext>
            </a:extLst>
          </p:cNvPr>
          <p:cNvSpPr txBox="1"/>
          <p:nvPr/>
        </p:nvSpPr>
        <p:spPr>
          <a:xfrm>
            <a:off x="793171" y="5922818"/>
            <a:ext cx="111459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Century Gothic" panose="020B0502020202020204" pitchFamily="34" charset="0"/>
              </a:rPr>
              <a:t>Descriptive findings; differences are not tests of statistical significance or causation.</a:t>
            </a:r>
            <a:endParaRPr lang="en-NG" b="1" dirty="0">
              <a:latin typeface="Century Gothic" panose="020B0502020202020204" pitchFamily="34" charset="0"/>
            </a:endParaRPr>
          </a:p>
        </p:txBody>
      </p:sp>
      <p:pic>
        <p:nvPicPr>
          <p:cNvPr id="2056" name="Picture 8">
            <a:extLst>
              <a:ext uri="{FF2B5EF4-FFF2-40B4-BE49-F238E27FC236}">
                <a16:creationId xmlns:a16="http://schemas.microsoft.com/office/drawing/2014/main" id="{12838F6A-6D38-BCA5-39E9-7A6FC0C67E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1895" y="1280663"/>
            <a:ext cx="5016934" cy="3725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54656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A74FF56-033C-39BC-AF39-1FB8B11B4ED7}"/>
              </a:ext>
            </a:extLst>
          </p:cNvPr>
          <p:cNvSpPr txBox="1"/>
          <p:nvPr/>
        </p:nvSpPr>
        <p:spPr>
          <a:xfrm>
            <a:off x="716148" y="758234"/>
            <a:ext cx="105103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Arial Black" panose="020B0A04020102020204" pitchFamily="34" charset="0"/>
              </a:rPr>
              <a:t>KEY FINDINGS AND CONCLUSION</a:t>
            </a:r>
            <a:endParaRPr lang="en-NG" sz="3200" b="1" dirty="0">
              <a:latin typeface="Arial Black" panose="020B0A040201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0D7C4F2-78EC-FAF1-3A93-2BC8F76A3B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0839" y="1520371"/>
            <a:ext cx="10768281" cy="42870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NG" altLang="en-NG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Moderate </a:t>
            </a:r>
            <a:r>
              <a:rPr kumimoji="0" lang="en-US" altLang="en-NG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a</a:t>
            </a:r>
            <a:r>
              <a:rPr lang="en-US" altLang="en-NG" b="1" dirty="0">
                <a:latin typeface="Century Gothic" panose="020B0502020202020204" pitchFamily="34" charset="0"/>
              </a:rPr>
              <a:t>nemia</a:t>
            </a:r>
            <a:r>
              <a:rPr kumimoji="0" lang="en-NG" altLang="en-NG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was the largest single category</a:t>
            </a:r>
            <a:endParaRPr kumimoji="0" lang="en-US" altLang="en-NG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" panose="020B0502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NG" altLang="en-NG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Anaemia severity differed across socioeconomic groups</a:t>
            </a:r>
            <a:endParaRPr kumimoji="0" lang="en-US" altLang="en-NG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" panose="020B0502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NG" altLang="en-NG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Similar patterns were seen for mother's education and residence</a:t>
            </a:r>
            <a:endParaRPr kumimoji="0" lang="en-US" altLang="en-NG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" panose="020B0502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lang="en-US" altLang="en-NG" b="1" dirty="0">
              <a:latin typeface="Century Gothic" panose="020B0502020202020204" pitchFamily="34" charset="0"/>
            </a:endParaRPr>
          </a:p>
          <a:p>
            <a:pPr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latin typeface="Century Gothic" panose="020B0502020202020204" pitchFamily="34" charset="0"/>
              </a:rPr>
              <a:t>CONCLUSION</a:t>
            </a:r>
          </a:p>
          <a:p>
            <a:pPr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latin typeface="Century Gothic" panose="020B0502020202020204" pitchFamily="34" charset="0"/>
              </a:rPr>
              <a:t>The descriptive </a:t>
            </a:r>
            <a:r>
              <a:rPr lang="en-US" b="1" dirty="0">
                <a:latin typeface="Century Gothic" panose="020B0502020202020204" pitchFamily="34" charset="0"/>
              </a:rPr>
              <a:t>results show clear differences in childhood anemia severity across household wealth, mother's education, and residence. These findings describe patterns in the data and do not establish statistical significance or causation.</a:t>
            </a:r>
            <a:endParaRPr lang="en-NG" b="1" dirty="0">
              <a:latin typeface="Century Gothic" panose="020B0502020202020204" pitchFamily="34" charset="0"/>
            </a:endParaRP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NG" altLang="en-NG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" panose="020B0502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NG" altLang="en-NG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151811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342</TotalTime>
  <Words>397</Words>
  <Application>Microsoft Office PowerPoint</Application>
  <PresentationFormat>Widescreen</PresentationFormat>
  <Paragraphs>68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Algerian</vt:lpstr>
      <vt:lpstr>Arial</vt:lpstr>
      <vt:lpstr>Arial Black</vt:lpstr>
      <vt:lpstr>Arial Rounded MT Bold</vt:lpstr>
      <vt:lpstr>Calibri</vt:lpstr>
      <vt:lpstr>Century Gothic</vt:lpstr>
      <vt:lpstr>Garamond</vt:lpstr>
      <vt:lpstr>Wingdings</vt:lpstr>
      <vt:lpstr>Organic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Aishatu</cp:lastModifiedBy>
  <cp:revision>6</cp:revision>
  <dcterms:created xsi:type="dcterms:W3CDTF">2026-09-23T09:49:04Z</dcterms:created>
  <dcterms:modified xsi:type="dcterms:W3CDTF">2026-09-23T21:31:03Z</dcterms:modified>
</cp:coreProperties>
</file>